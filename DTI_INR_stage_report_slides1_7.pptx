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微软雅黑"/>
                <a:ea typeface="微软雅黑"/>
              </a:rPr>
              <a:t>研究介绍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核心研究问题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18320" cy="1051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002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A5F"/>
                </a:solidFill>
                <a:latin typeface="微软雅黑"/>
                <a:ea typeface="微软雅黑"/>
              </a:rPr>
              <a:t>如何利用 INR 提高 DTI 参数估计的准确性？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当前验证路径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2377440" cy="1234440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A5F"/>
                </a:solidFill>
                <a:latin typeface="微软雅黑"/>
                <a:ea typeface="微软雅黑"/>
              </a:rPr>
              <a:t>有限 / 稀疏
diffusion measurements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F6FA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200400"/>
            <a:ext cx="2377440" cy="1234440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3429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A5F"/>
                </a:solidFill>
                <a:latin typeface="微软雅黑"/>
                <a:ea typeface="微软雅黑"/>
              </a:rPr>
              <a:t>DTI-INR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F6FA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200400"/>
            <a:ext cx="2377440" cy="1234440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429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A5F"/>
                </a:solidFill>
                <a:latin typeface="微软雅黑"/>
                <a:ea typeface="微软雅黑"/>
              </a:rPr>
              <a:t>DTI 参数估计
FA / MD / AD / RD / 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F6FA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3200400"/>
            <a:ext cx="2377440" cy="1234440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3429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A5F"/>
                </a:solidFill>
                <a:latin typeface="微软雅黑"/>
                <a:ea typeface="微软雅黑"/>
              </a:rPr>
              <a:t>与 WLS 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本阶段重点：先验证可行性与参数恢复，再进入“是否更准确”的核心检验。</a:t>
            </a:r>
          </a:p>
        </p:txBody>
      </p:sp>
      <p:pic>
        <p:nvPicPr>
          <p:cNvPr id="19" name="Picture 18" descr="dti_map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5349240"/>
            <a:ext cx="8869680" cy="10972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656832"/>
            <a:ext cx="12191695" cy="32004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9340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微软雅黑"/>
                <a:ea typeface="微软雅黑"/>
              </a:rPr>
              <a:t>DTI-INR  ·  Feasibility → Parameter Recovery  · 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微软雅黑"/>
                <a:ea typeface="微软雅黑"/>
              </a:rPr>
              <a:t>实验目标与验证思路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7589520" cy="5212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51560"/>
            <a:ext cx="6583680" cy="713232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124712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3A5F"/>
                </a:solidFill>
                <a:latin typeface="微软雅黑"/>
                <a:ea typeface="微软雅黑"/>
              </a:rPr>
              <a:t>核心问题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399031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INR 能否提高 DTI 参数估计准确性？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F6F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6583680" cy="713232"/>
          </a:xfrm>
          <a:prstGeom prst="roundRect">
            <a:avLst/>
          </a:prstGeom>
          <a:solidFill>
            <a:srgbClr val="2F6FAD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01952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Experiment 1（已完成）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76272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DTI-INR 能否稳定训练？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2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F6F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06040"/>
            <a:ext cx="6583680" cy="713232"/>
          </a:xfrm>
          <a:prstGeom prst="roundRect">
            <a:avLst/>
          </a:prstGeom>
          <a:solidFill>
            <a:srgbClr val="2F6FAD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79192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Experiment 2（已完成）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53512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能否从 diffusion signal 恢复 DTI 参数？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73552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F6F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83280"/>
            <a:ext cx="6583680" cy="713232"/>
          </a:xfrm>
          <a:prstGeom prst="roundRect">
            <a:avLst/>
          </a:prstGeom>
          <a:solidFill>
            <a:srgbClr val="A0B4C8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456432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3A5F"/>
                </a:solidFill>
                <a:latin typeface="微软雅黑"/>
                <a:ea typeface="微软雅黑"/>
              </a:rPr>
              <a:t>Experiment 3（下一阶段）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730752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稀疏 measurements 下是否优于 WLS？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50791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F6F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160520"/>
            <a:ext cx="6583680" cy="713232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233672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3A5F"/>
                </a:solidFill>
                <a:latin typeface="微软雅黑"/>
                <a:ea typeface="微软雅黑"/>
              </a:rPr>
              <a:t>最终验证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507992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Synthetic GT + HCP-YA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051560"/>
            <a:ext cx="3383280" cy="2377440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1234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Current Stage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1737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6FAD"/>
                </a:solidFill>
                <a:latin typeface="微软雅黑"/>
                <a:ea typeface="微软雅黑"/>
              </a:rPr>
              <a:t>Feasibility → Parameter Recovery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468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当前重点：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验证 DTI-INR 能否从真实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diffusion measurements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学习 DTI parameter field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749039"/>
            <a:ext cx="3383280" cy="2331720"/>
          </a:xfrm>
          <a:prstGeom prst="roundRect">
            <a:avLst/>
          </a:prstGeom>
          <a:solidFill>
            <a:srgbClr val="F5E6A8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4069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当前实验首先回答
“INR 能不能工作”，
随后再回答
“INR 是否更准确”。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32004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9340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微软雅黑"/>
                <a:ea typeface="微软雅黑"/>
              </a:rPr>
              <a:t>DTI-INR  ·  Feasibility → Parameter Recovery  · 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微软雅黑"/>
                <a:ea typeface="微软雅黑"/>
              </a:rPr>
              <a:t>实验一：DTI-INR 是否能够从 diffusion signal 中恢复 DTI？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4023360" cy="566928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Spatial coordinate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26464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F6F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36192"/>
            <a:ext cx="4023360" cy="566928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Spatial 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6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F6F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57984"/>
            <a:ext cx="4023360" cy="566928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9514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MLP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7004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F6F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779776"/>
            <a:ext cx="4023360" cy="566928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1693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S₀(x)     D(x)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F6F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401568"/>
            <a:ext cx="4023360" cy="566928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387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DTI Forward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13632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F6F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023360"/>
            <a:ext cx="4023360" cy="566928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S_pred(x, g, 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914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3A5F"/>
                </a:solidFill>
                <a:latin typeface="微软雅黑"/>
                <a:ea typeface="微软雅黑"/>
              </a:rPr>
              <a:t>Experimental Setup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0" y="1325880"/>
          <a:ext cx="5943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84048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设置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HCP-YA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Subjects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Measurements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b=0 + b≈1000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Input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Spatial coordinate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S0(x), D(x)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Physics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DTI forward model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Loss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Signal MSE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Baseline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WLS-DTI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457200" y="5349240"/>
            <a:ext cx="11247120" cy="96012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3A5F"/>
                </a:solidFill>
                <a:latin typeface="微软雅黑"/>
                <a:ea typeface="微软雅黑"/>
              </a:rPr>
              <a:t>L = ‖ S_pred − S_obs ‖₂²          ·          WLS-DTI 参数不参与训练，仅用于后续比较。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32004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9340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微软雅黑"/>
                <a:ea typeface="微软雅黑"/>
              </a:rPr>
              <a:t>DTI-INR  ·  Feasibility → Parameter Recovery  · 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微软雅黑"/>
                <a:ea typeface="微软雅黑"/>
              </a:rPr>
              <a:t>实验一结果：DTI-INR 可以稳定拟合 diffusion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7A46"/>
                </a:solidFill>
                <a:latin typeface="微软雅黑"/>
                <a:ea typeface="微软雅黑"/>
              </a:rPr>
              <a:t>只回答：DTI-INR 能不能训练起来？  →  可以。</a:t>
            </a:r>
          </a:p>
        </p:txBody>
      </p:sp>
      <p:pic>
        <p:nvPicPr>
          <p:cNvPr id="4" name="Picture 3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94360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1097280"/>
            <a:ext cx="5120640" cy="411480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Subject 109830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7373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>epoch 1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>  train MSE = 6.21×10⁻³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>  val MSE   = 1.39×10⁻³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>epoch 20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>  train MSE = 3.31×10⁻⁴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>  val MSE   = 6.52×10⁻⁴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>epoch 40  ·  early stop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>  train MSE = 3.06×10⁻⁴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>  val MSE   = 7.02×10⁻⁴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>Signal MSE = 3.95×10⁻⁴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>PSNR = 24.49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440680"/>
            <a:ext cx="11430000" cy="868680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A5F"/>
                </a:solidFill>
                <a:latin typeface="微软雅黑"/>
                <a:ea typeface="微软雅黑"/>
              </a:rPr>
              <a:t>结果：模型能够在真实 HCP-YA diffusion measurements 上稳定收敛，并完成 diffusion signal reconstruction。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32004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9340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微软雅黑"/>
                <a:ea typeface="微软雅黑"/>
              </a:rPr>
              <a:t>DTI-INR  ·  Feasibility → Parameter Recovery  · 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微软雅黑"/>
                <a:ea typeface="微软雅黑"/>
              </a:rPr>
              <a:t>实验二：DTI-INR 能否恢复 DTI 参数？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微软雅黑"/>
                <a:ea typeface="微软雅黑"/>
              </a:rPr>
              <a:t>从 S(x,g,b) 进入 D(x)，再得到 FA / MD / AD / RD /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097280"/>
            <a:ext cx="5029200" cy="640080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Diffusion measurements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F6FAD"/>
                </a:solidFill>
                <a:latin typeface="微软雅黑"/>
                <a:ea typeface="微软雅黑"/>
              </a:rPr>
              <a:t>↙                    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48840"/>
            <a:ext cx="3200400" cy="64008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WLS-DTI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148840"/>
            <a:ext cx="3200400" cy="64008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DTI-INR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971800"/>
            <a:ext cx="3200400" cy="548640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A5F"/>
                </a:solidFill>
                <a:latin typeface="微软雅黑"/>
                <a:ea typeface="微软雅黑"/>
              </a:rPr>
              <a:t>D_WLS(x)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971800"/>
            <a:ext cx="3200400" cy="548640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A5F"/>
                </a:solidFill>
                <a:latin typeface="微软雅黑"/>
                <a:ea typeface="微软雅黑"/>
              </a:rPr>
              <a:t>D_INR(x)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F6FAD"/>
                </a:solidFill>
                <a:latin typeface="微软雅黑"/>
                <a:ea typeface="微软雅黑"/>
              </a:rPr>
              <a:t>↘                    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886200"/>
            <a:ext cx="5029200" cy="54864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9776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A5F"/>
                </a:solidFill>
                <a:latin typeface="微软雅黑"/>
                <a:ea typeface="微软雅黑"/>
              </a:rPr>
              <a:t>DTI parameters：FA · MD · AD · RD · V1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09160"/>
            <a:ext cx="5303520" cy="914400"/>
          </a:xfrm>
          <a:prstGeom prst="roundRect">
            <a:avLst/>
          </a:prstGeom>
          <a:solidFill>
            <a:srgbClr val="F5E6A8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A5F"/>
                </a:solidFill>
                <a:latin typeface="微软雅黑"/>
                <a:ea typeface="微软雅黑"/>
              </a:rPr>
              <a:t>当前阶段：WLS-DTI 作为 reference，而不是 ground truth。
INR  ↔  WLS reference   （不是 INR ↔ GT）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4709160"/>
            <a:ext cx="5669280" cy="914400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8463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A5F"/>
                </a:solidFill>
                <a:latin typeface="微软雅黑"/>
                <a:ea typeface="微软雅黑"/>
              </a:rPr>
              <a:t>因此当前实验可以验证“参数恢复能力”，
但还不能直接证明“参数估计更准确”。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32004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69340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微软雅黑"/>
                <a:ea typeface="微软雅黑"/>
              </a:rPr>
              <a:t>DTI-INR  ·  Feasibility → Parameter Recovery  · 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微软雅黑"/>
                <a:ea typeface="微软雅黑"/>
              </a:rPr>
              <a:t>初步结果：DTI-INR 已能够恢复完整 DTI 参数图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Subject 109830  ·  axial z=59  ·  WLS = reference（非 GT）</a:t>
            </a:r>
          </a:p>
        </p:txBody>
      </p:sp>
      <p:pic>
        <p:nvPicPr>
          <p:cNvPr id="4" name="Picture 3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60120"/>
            <a:ext cx="6949440" cy="4572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60920" y="960120"/>
          <a:ext cx="44805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468880"/>
              </a:tblGrid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Metric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INR vs WLS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FA MAE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0.0726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FA RMSE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0.1165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MD MAE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8.77e-05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AD MAE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1.11e-04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RD MAE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9.41e-05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V1 Error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28.17°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Signal MSE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3.95e-04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196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PSNR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  <a:ea typeface="微软雅黑"/>
                        </a:rPr>
                        <a:t>24.49 dB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60920" y="5074920"/>
            <a:ext cx="4480560" cy="114300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521208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3A5F"/>
                </a:solidFill>
                <a:latin typeface="微软雅黑"/>
                <a:ea typeface="微软雅黑"/>
              </a:rPr>
              <a:t>结论：可从真实 measurements 恢复 FA/MD/AD/RD/V1。
但指标是 INR 与 WLS 的差异，而非相对真实 GT 的误差。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32004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9340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微软雅黑"/>
                <a:ea typeface="微软雅黑"/>
              </a:rPr>
              <a:t>DTI-INR  ·  Feasibility → Parameter Recovery  · 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微软雅黑"/>
                <a:ea typeface="微软雅黑"/>
              </a:rPr>
              <a:t>当前结果与下一步实验：从“可行”走向“准确”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60120"/>
            <a:ext cx="5394960" cy="320040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7A46"/>
                </a:solidFill>
                <a:latin typeface="微软雅黑"/>
                <a:ea typeface="微软雅黑"/>
              </a:rPr>
              <a:t>目前已经验证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✓  DTI-INR 可以训练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✓  可以重建 diffusion signal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✓  可以输出 DTI parameter maps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✓  可以计算 FA / MD / AD / RD / V1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960120"/>
            <a:ext cx="5577840" cy="3200400"/>
          </a:xfrm>
          <a:prstGeom prst="roundRect">
            <a:avLst/>
          </a:prstGeom>
          <a:solidFill>
            <a:srgbClr val="FDF2F2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097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微软雅黑"/>
                <a:ea typeface="微软雅黑"/>
              </a:rPr>
              <a:t>目前尚未回答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?  INR 是否优于 WLS？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?  measurements 越稀疏时是否仍稳定？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?  noise 增大时是否具有优势？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?  是否优于已有 learning-based 方法？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4251960"/>
            <a:ext cx="8869680" cy="502920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34340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A5F"/>
                </a:solidFill>
                <a:latin typeface="微软雅黑"/>
                <a:ea typeface="微软雅黑"/>
              </a:rPr>
              <a:t>Can INR work?   →   Can INR recover DTI?   →   Can INR work better?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3A5F"/>
                </a:solidFill>
                <a:latin typeface="微软雅黑"/>
                <a:ea typeface="微软雅黑"/>
              </a:rPr>
              <a:t>Next Experiment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66360"/>
            <a:ext cx="2011680" cy="658368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257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3A5F"/>
                </a:solidFill>
                <a:latin typeface="微软雅黑"/>
                <a:ea typeface="微软雅黑"/>
              </a:rPr>
              <a:t>Synthetic DTI GT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6FA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166360"/>
            <a:ext cx="2011680" cy="658368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5257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3A5F"/>
                </a:solidFill>
                <a:latin typeface="微软雅黑"/>
                <a:ea typeface="微软雅黑"/>
              </a:rPr>
              <a:t>加噪声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6FA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5166360"/>
            <a:ext cx="2011680" cy="658368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5257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3A5F"/>
                </a:solidFill>
                <a:latin typeface="微软雅黑"/>
                <a:ea typeface="微软雅黑"/>
              </a:rPr>
              <a:t>稀疏采样
100/50/25/10%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6FA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79" y="5166360"/>
            <a:ext cx="2011680" cy="658368"/>
          </a:xfrm>
          <a:prstGeom prst="roundRect">
            <a:avLst/>
          </a:prstGeom>
          <a:solidFill>
            <a:srgbClr val="EEF4FA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79" y="5257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3A5F"/>
                </a:solidFill>
                <a:latin typeface="微软雅黑"/>
                <a:ea typeface="微软雅黑"/>
              </a:rPr>
              <a:t>WLS vs INR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6FA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5166360"/>
            <a:ext cx="2011680" cy="658368"/>
          </a:xfrm>
          <a:prstGeom prst="roundRect">
            <a:avLst/>
          </a:prstGeom>
          <a:solidFill>
            <a:srgbClr val="F5E6A8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5257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3A5F"/>
                </a:solidFill>
                <a:latin typeface="微软雅黑"/>
                <a:ea typeface="微软雅黑"/>
              </a:rPr>
              <a:t>E_INR vs E_WLS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A5F"/>
                </a:solidFill>
                <a:latin typeface="微软雅黑"/>
                <a:ea typeface="微软雅黑"/>
              </a:rPr>
              <a:t>下一阶段核心验证：在有限 diffusion measurements 下，INR 是否能够获得比 WLS 更准确的 DTI 参数估计。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32004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9340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微软雅黑"/>
                <a:ea typeface="微软雅黑"/>
              </a:rPr>
              <a:t>DTI-INR  ·  Feasibility → Parameter Recovery  · 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